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6" r:id="rId2"/>
    <p:sldId id="257" r:id="rId3"/>
    <p:sldId id="264" r:id="rId4"/>
    <p:sldId id="258" r:id="rId5"/>
    <p:sldId id="259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8E2608-323F-BB19-666E-1F65C5A18028}" v="897" dt="2025-12-02T17:59:11.3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395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487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88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995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116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706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45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397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598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973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433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555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8495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4323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3049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9037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376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405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hanaHemraj/Vechile-parking-syste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hanaHemraj/Vechile-parking-syste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718" y="999750"/>
            <a:ext cx="10549683" cy="1152573"/>
          </a:xfrm>
        </p:spPr>
        <p:txBody>
          <a:bodyPr/>
          <a:lstStyle/>
          <a:p>
            <a:r>
              <a:rPr lang="en-US" sz="4400" dirty="0">
                <a:ea typeface="+mj-lt"/>
                <a:cs typeface="+mj-lt"/>
              </a:rPr>
              <a:t>Parking Lot Management System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2702315"/>
            <a:ext cx="8825658" cy="197369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Capgemini Cloud Programming Assignment</a:t>
            </a:r>
            <a:br>
              <a:rPr lang="en-US" dirty="0">
                <a:ea typeface="+mn-lt"/>
                <a:cs typeface="+mn-lt"/>
              </a:rPr>
            </a:br>
            <a:br>
              <a:rPr lang="en-US" dirty="0">
                <a:ea typeface="+mn-lt"/>
                <a:cs typeface="+mn-lt"/>
              </a:rPr>
            </a:br>
            <a:r>
              <a:rPr lang="en-US" dirty="0"/>
              <a:t>Sahana Hemraj</a:t>
            </a:r>
            <a:br>
              <a:rPr lang="en-US" dirty="0"/>
            </a:br>
            <a:r>
              <a:rPr lang="en-US" b="1" dirty="0">
                <a:ea typeface="+mn-lt"/>
                <a:cs typeface="+mn-lt"/>
                <a:hlinkClick r:id="rId2"/>
              </a:rPr>
              <a:t>GitHub Repo Link</a:t>
            </a:r>
            <a:endParaRPr lang="en-US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7DBFB-2D24-718D-F8AB-3E4A30C16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>
                <a:ea typeface="+mj-lt"/>
                <a:cs typeface="+mj-lt"/>
              </a:rPr>
              <a:t>Approach &amp; Design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C3F1D-81A9-F4DD-8F62-86556844A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529" y="2051665"/>
            <a:ext cx="8668345" cy="4249890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Design Goals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        Simple, modular, and extensible architecture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       Follow separation of concerns (CLI, Core Logic, Models)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       Easy to test and understand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       Minimal dependencies, pure Python</a:t>
            </a:r>
            <a:endParaRPr lang="en-US"/>
          </a:p>
          <a:p>
            <a:pPr marL="0" indent="0">
              <a:buNone/>
            </a:pPr>
            <a:r>
              <a:rPr lang="en-US" b="1" dirty="0"/>
              <a:t>High-Level Architecture</a:t>
            </a:r>
            <a:endParaRPr lang="en-US" dirty="0"/>
          </a:p>
          <a:p>
            <a:pPr>
              <a:buFont typeface="Wingdings" charset="2"/>
              <a:buChar char="Ø"/>
            </a:pPr>
            <a:r>
              <a:rPr lang="en-US" b="1" dirty="0">
                <a:ea typeface="+mn-lt"/>
                <a:cs typeface="+mn-lt"/>
              </a:rPr>
              <a:t>CLI Layer (</a:t>
            </a:r>
            <a:r>
              <a:rPr lang="en-US" b="1" dirty="0">
                <a:latin typeface="Consolas"/>
              </a:rPr>
              <a:t>parking_lot.py</a:t>
            </a:r>
            <a:r>
              <a:rPr lang="en-US" b="1" dirty="0">
                <a:ea typeface="+mn-lt"/>
                <a:cs typeface="+mn-lt"/>
              </a:rPr>
              <a:t>) -  Handles user commands, input validation, and displays output.</a:t>
            </a:r>
            <a:endParaRPr lang="en-US" dirty="0"/>
          </a:p>
          <a:p>
            <a:pPr>
              <a:buFont typeface="Wingdings" charset="2"/>
              <a:buChar char="Ø"/>
            </a:pPr>
            <a:r>
              <a:rPr lang="en-US" b="1" dirty="0">
                <a:ea typeface="+mn-lt"/>
                <a:cs typeface="+mn-lt"/>
              </a:rPr>
              <a:t>Core Logic (</a:t>
            </a:r>
            <a:r>
              <a:rPr lang="en-US" b="1" dirty="0">
                <a:latin typeface="Consolas"/>
              </a:rPr>
              <a:t>parking_lot_core.py</a:t>
            </a:r>
            <a:r>
              <a:rPr lang="en-US" b="1" dirty="0">
                <a:ea typeface="+mn-lt"/>
                <a:cs typeface="+mn-lt"/>
              </a:rPr>
              <a:t>)</a:t>
            </a:r>
            <a:br>
              <a:rPr lang="en-US" b="1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Slot creation using 40/40/remaining distribution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First-fit allocation algorithm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Park, Leave, Status, Find, Save, Load</a:t>
            </a:r>
            <a:endParaRPr lang="en-US" dirty="0"/>
          </a:p>
          <a:p>
            <a:pPr>
              <a:buFont typeface="Wingdings" charset="2"/>
              <a:buChar char="Ø"/>
            </a:pPr>
            <a:r>
              <a:rPr lang="en-US" b="1" dirty="0">
                <a:ea typeface="+mn-lt"/>
                <a:cs typeface="+mn-lt"/>
              </a:rPr>
              <a:t>Models (</a:t>
            </a:r>
            <a:r>
              <a:rPr lang="en-US" b="1" dirty="0">
                <a:latin typeface="Consolas"/>
              </a:rPr>
              <a:t>Slot</a:t>
            </a:r>
            <a:r>
              <a:rPr lang="en-US" b="1" dirty="0">
                <a:ea typeface="+mn-lt"/>
                <a:cs typeface="+mn-lt"/>
              </a:rPr>
              <a:t>, </a:t>
            </a:r>
            <a:r>
              <a:rPr lang="en-US" b="1" dirty="0">
                <a:latin typeface="Consolas"/>
              </a:rPr>
              <a:t>Vehicle</a:t>
            </a:r>
            <a:r>
              <a:rPr lang="en-US" b="1" dirty="0">
                <a:ea typeface="+mn-lt"/>
                <a:cs typeface="+mn-lt"/>
              </a:rPr>
              <a:t>)</a:t>
            </a:r>
            <a:br>
              <a:rPr lang="en-US" b="1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Simple </a:t>
            </a:r>
            <a:r>
              <a:rPr lang="en-US" dirty="0" err="1">
                <a:ea typeface="+mn-lt"/>
                <a:cs typeface="+mn-lt"/>
              </a:rPr>
              <a:t>dataclasses</a:t>
            </a:r>
            <a:r>
              <a:rPr lang="en-US" dirty="0">
                <a:ea typeface="+mn-lt"/>
                <a:cs typeface="+mn-lt"/>
              </a:rPr>
              <a:t> for clear representation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Allocation Strategy</a:t>
            </a:r>
            <a:br>
              <a:rPr lang="en-US" b="1" dirty="0"/>
            </a:br>
            <a:r>
              <a:rPr lang="en-US" dirty="0"/>
              <a:t>       Uses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First-Fit</a:t>
            </a:r>
            <a:r>
              <a:rPr lang="en-US" dirty="0">
                <a:ea typeface="+mn-lt"/>
                <a:cs typeface="+mn-lt"/>
              </a:rPr>
              <a:t> allocation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      Mapping: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      SMALL → Small/Large/Oversize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      LARGE → Large/Oversize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      OVERSIZE → Oversize only</a:t>
            </a:r>
            <a:endParaRPr lang="en-US" dirty="0"/>
          </a:p>
          <a:p>
            <a:pPr>
              <a:buFont typeface="Wingdings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542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9D19D-4D93-D713-A09E-2F528516A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Diagram</a:t>
            </a:r>
          </a:p>
        </p:txBody>
      </p:sp>
      <p:pic>
        <p:nvPicPr>
          <p:cNvPr id="4" name="Content Placeholder 3" descr="A diagram of a program&#10;&#10;AI-generated content may be incorrect.">
            <a:extLst>
              <a:ext uri="{FF2B5EF4-FFF2-40B4-BE49-F238E27FC236}">
                <a16:creationId xmlns:a16="http://schemas.microsoft.com/office/drawing/2014/main" id="{8955191D-8654-E7F7-74F5-12D6FCAACC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9712" y="2165350"/>
            <a:ext cx="8001793" cy="426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396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D600F-FEA8-6186-6CA3-8CDCDFA36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Key Files and Folders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FC05F-0505-EBE3-CC85-859B557E1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94565"/>
            <a:ext cx="8776499" cy="390791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None/>
            </a:pPr>
            <a:r>
              <a:rPr lang="en-US" dirty="0" err="1">
                <a:ea typeface="+mn-lt"/>
                <a:cs typeface="+mn-lt"/>
              </a:rPr>
              <a:t>parking_lot</a:t>
            </a:r>
            <a:r>
              <a:rPr lang="en-US" dirty="0">
                <a:ea typeface="+mn-lt"/>
                <a:cs typeface="+mn-lt"/>
              </a:rPr>
              <a:t>/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│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├── parking_lot.py                 # CLI entry point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│</a:t>
            </a:r>
            <a:endParaRPr lang="en-US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├── models/</a:t>
            </a:r>
            <a:endParaRPr lang="en-US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│   ├── parking_lot_core.py        # Core business logic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│   ├── slot.py                    # Slot model</a:t>
            </a:r>
            <a:endParaRPr lang="en-US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│   └── vehicle.py                 # Vehicle model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│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│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└── README.md                      # Documentation, instructions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590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7C98F-FB75-F9DE-CB03-3C7279B35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Process to Run, Test, and Verify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5E95F-49BC-3DCF-958B-92E5A1406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01847" cy="401637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ea typeface="+mn-lt"/>
                <a:cs typeface="+mn-lt"/>
              </a:rPr>
              <a:t>1. Run the Application</a:t>
            </a:r>
          </a:p>
          <a:p>
            <a:pPr marL="0" indent="0">
              <a:buNone/>
            </a:pPr>
            <a:r>
              <a:rPr lang="en-US" sz="1400" dirty="0"/>
              <a:t>     </a:t>
            </a:r>
            <a:r>
              <a:rPr lang="en-US" sz="1400" dirty="0">
                <a:ea typeface="+mn-lt"/>
                <a:cs typeface="+mn-lt"/>
              </a:rPr>
              <a:t>python3 parking_lot.py</a:t>
            </a:r>
          </a:p>
          <a:p>
            <a:pPr marL="0" indent="0">
              <a:buNone/>
            </a:pPr>
            <a:r>
              <a:rPr lang="en-US" sz="1400" b="1" dirty="0">
                <a:ea typeface="+mn-lt"/>
                <a:cs typeface="+mn-lt"/>
              </a:rPr>
              <a:t>2. Available Commands</a:t>
            </a:r>
          </a:p>
          <a:p>
            <a:pPr marL="0" indent="0">
              <a:buNone/>
            </a:pPr>
            <a:r>
              <a:rPr lang="en-US" sz="1400" dirty="0"/>
              <a:t>    </a:t>
            </a:r>
            <a:r>
              <a:rPr lang="en-US" sz="1400" dirty="0">
                <a:ea typeface="+mn-lt"/>
                <a:cs typeface="+mn-lt"/>
              </a:rPr>
              <a:t>park &lt;plate&gt; &lt;size&gt;</a:t>
            </a:r>
            <a:br>
              <a:rPr lang="en-US" sz="1400" dirty="0">
                <a:ea typeface="+mn-lt"/>
                <a:cs typeface="+mn-lt"/>
              </a:rPr>
            </a:br>
            <a:r>
              <a:rPr lang="en-US" sz="1400" dirty="0">
                <a:ea typeface="+mn-lt"/>
                <a:cs typeface="+mn-lt"/>
              </a:rPr>
              <a:t>    leave &lt;</a:t>
            </a:r>
            <a:r>
              <a:rPr lang="en-US" sz="1400" dirty="0" err="1">
                <a:ea typeface="+mn-lt"/>
                <a:cs typeface="+mn-lt"/>
              </a:rPr>
              <a:t>slot_id</a:t>
            </a:r>
            <a:r>
              <a:rPr lang="en-US" sz="1400" dirty="0">
                <a:ea typeface="+mn-lt"/>
                <a:cs typeface="+mn-lt"/>
              </a:rPr>
              <a:t>&gt;</a:t>
            </a:r>
            <a:br>
              <a:rPr lang="en-US" sz="1400" dirty="0">
                <a:ea typeface="+mn-lt"/>
                <a:cs typeface="+mn-lt"/>
              </a:rPr>
            </a:br>
            <a:r>
              <a:rPr lang="en-US" sz="1400" dirty="0"/>
              <a:t>    Status</a:t>
            </a:r>
            <a:br>
              <a:rPr lang="en-US" sz="1400" dirty="0">
                <a:ea typeface="+mn-lt"/>
                <a:cs typeface="+mn-lt"/>
              </a:rPr>
            </a:br>
            <a:endParaRPr lang="en-US" sz="1400" dirty="0"/>
          </a:p>
          <a:p>
            <a:pPr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</a:rPr>
              <a:t>3. Verification</a:t>
            </a:r>
            <a:endParaRPr lang="en-US" sz="1400" dirty="0">
              <a:solidFill>
                <a:srgbClr val="000000"/>
              </a:solidFill>
            </a:endParaRPr>
          </a:p>
          <a:p>
            <a:pPr marL="285750" indent="-285750">
              <a:spcBef>
                <a:spcPts val="0"/>
              </a:spcBef>
              <a:buFont typeface="Arial,Sans-Serif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Parking assigns correct first-fit slot</a:t>
            </a:r>
          </a:p>
          <a:p>
            <a:pPr marL="285750" indent="-285750">
              <a:spcBef>
                <a:spcPts val="0"/>
              </a:spcBef>
              <a:buFont typeface="Arial,Sans-Serif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Leaving frees the slot</a:t>
            </a:r>
          </a:p>
          <a:p>
            <a:pPr marL="285750" indent="-285750">
              <a:spcBef>
                <a:spcPts val="0"/>
              </a:spcBef>
              <a:buFont typeface="Arial,Sans-Serif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Status displays all slots + occupancy</a:t>
            </a:r>
          </a:p>
          <a:p>
            <a:pPr marL="285750" indent="-285750">
              <a:spcBef>
                <a:spcPts val="0"/>
              </a:spcBef>
              <a:buFont typeface="Arial,Sans-Serif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Find returns correct slot</a:t>
            </a:r>
            <a:endParaRPr lang="en-US" sz="1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439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DCA3E-24D6-FD40-6B57-5AC3F4F8C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Test Data &amp; Seed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B6FB9-D68F-66FF-99A8-39487FA95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234791"/>
            <a:ext cx="8776499" cy="44241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400" b="1" dirty="0">
                <a:ea typeface="+mn-lt"/>
                <a:cs typeface="+mn-lt"/>
              </a:rPr>
              <a:t>Seed Data And Test Data</a:t>
            </a:r>
            <a:endParaRPr lang="en-US" sz="1400" b="1" dirty="0"/>
          </a:p>
          <a:p>
            <a:pPr marL="0" indent="0">
              <a:buNone/>
            </a:pPr>
            <a:r>
              <a:rPr lang="en-US" sz="900" dirty="0">
                <a:ea typeface="+mn-lt"/>
                <a:cs typeface="+mn-lt"/>
              </a:rPr>
              <a:t>      </a:t>
            </a:r>
            <a:r>
              <a:rPr lang="en-US" sz="900" b="1" dirty="0">
                <a:ea typeface="+mn-lt"/>
                <a:cs typeface="+mn-lt"/>
              </a:rPr>
              <a:t>Example initial run: </a:t>
            </a:r>
            <a:br>
              <a:rPr lang="en-US" sz="900" b="1" dirty="0">
                <a:ea typeface="+mn-lt"/>
                <a:cs typeface="+mn-lt"/>
              </a:rPr>
            </a:br>
            <a:r>
              <a:rPr lang="en-US" sz="900" b="1" dirty="0">
                <a:ea typeface="+mn-lt"/>
                <a:cs typeface="+mn-lt"/>
              </a:rPr>
              <a:t>       Enter total number of parking slots: 10</a:t>
            </a:r>
          </a:p>
          <a:p>
            <a:pPr>
              <a:buNone/>
            </a:pPr>
            <a:r>
              <a:rPr lang="en-US" sz="900" dirty="0">
                <a:ea typeface="+mn-lt"/>
                <a:cs typeface="+mn-lt"/>
              </a:rPr>
              <a:t>                                       SMALL: 4</a:t>
            </a:r>
          </a:p>
          <a:p>
            <a:pPr>
              <a:buNone/>
            </a:pPr>
            <a:r>
              <a:rPr lang="en-US" sz="900" dirty="0">
                <a:ea typeface="+mn-lt"/>
                <a:cs typeface="+mn-lt"/>
              </a:rPr>
              <a:t>                                       LARGE: 4</a:t>
            </a:r>
          </a:p>
          <a:p>
            <a:pPr>
              <a:buNone/>
            </a:pPr>
            <a:r>
              <a:rPr lang="en-US" sz="900" dirty="0">
                <a:ea typeface="+mn-lt"/>
                <a:cs typeface="+mn-lt"/>
              </a:rPr>
              <a:t>                                       OVERSIZE: 2</a:t>
            </a:r>
          </a:p>
          <a:p>
            <a:pPr marL="0" indent="0">
              <a:buNone/>
            </a:pPr>
            <a:r>
              <a:rPr lang="en-US" sz="900" dirty="0">
                <a:ea typeface="+mn-lt"/>
                <a:cs typeface="+mn-lt"/>
              </a:rPr>
              <a:t>       </a:t>
            </a:r>
            <a:r>
              <a:rPr lang="en-US" sz="900" b="1" dirty="0">
                <a:ea typeface="+mn-lt"/>
                <a:cs typeface="+mn-lt"/>
              </a:rPr>
              <a:t>Test Cases Executed : Parking</a:t>
            </a:r>
            <a:br>
              <a:rPr lang="en-US" sz="900" b="1" dirty="0">
                <a:ea typeface="+mn-lt"/>
                <a:cs typeface="+mn-lt"/>
              </a:rPr>
            </a:br>
            <a:r>
              <a:rPr lang="en-US" sz="900" dirty="0">
                <a:ea typeface="+mn-lt"/>
                <a:cs typeface="+mn-lt"/>
              </a:rPr>
              <a:t>                                            park ABC123 small  → slot 1</a:t>
            </a:r>
          </a:p>
          <a:p>
            <a:pPr>
              <a:buNone/>
            </a:pPr>
            <a:r>
              <a:rPr lang="en-US" sz="900" dirty="0">
                <a:ea typeface="+mn-lt"/>
                <a:cs typeface="+mn-lt"/>
              </a:rPr>
              <a:t>                                            park LRG001 large  → slot 5</a:t>
            </a:r>
            <a:endParaRPr lang="en-US" sz="900" dirty="0"/>
          </a:p>
          <a:p>
            <a:pPr>
              <a:buNone/>
            </a:pPr>
            <a:r>
              <a:rPr lang="en-US" sz="900" dirty="0">
                <a:ea typeface="+mn-lt"/>
                <a:cs typeface="+mn-lt"/>
              </a:rPr>
              <a:t>                                            park TRK999 oversize → slot 9</a:t>
            </a:r>
            <a:br>
              <a:rPr lang="en-US" sz="900" dirty="0">
                <a:ea typeface="+mn-lt"/>
                <a:cs typeface="+mn-lt"/>
              </a:rPr>
            </a:br>
            <a:endParaRPr lang="en-US" sz="900"/>
          </a:p>
          <a:p>
            <a:pPr marL="0" indent="0">
              <a:spcBef>
                <a:spcPts val="0"/>
              </a:spcBef>
              <a:buNone/>
            </a:pPr>
            <a:r>
              <a:rPr lang="en-US" sz="900" b="1" dirty="0">
                <a:solidFill>
                  <a:srgbClr val="000000"/>
                </a:solidFill>
              </a:rPr>
              <a:t>       Duplicates</a:t>
            </a:r>
            <a:endParaRPr lang="en-US" sz="9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9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>
                <a:solidFill>
                  <a:srgbClr val="000000"/>
                </a:solidFill>
              </a:rPr>
              <a:t>                          park ABC123 small → duplicate warning</a:t>
            </a:r>
          </a:p>
          <a:p>
            <a:pPr marL="0" indent="0">
              <a:spcBef>
                <a:spcPts val="0"/>
              </a:spcBef>
              <a:buNone/>
            </a:pPr>
            <a:endParaRPr lang="en-US" sz="9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900" b="1" dirty="0">
                <a:solidFill>
                  <a:srgbClr val="000000"/>
                </a:solidFill>
              </a:rPr>
              <a:t>      Finding &amp; Leaving</a:t>
            </a:r>
            <a:endParaRPr lang="en-US" sz="9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>
                <a:solidFill>
                  <a:srgbClr val="000000"/>
                </a:solidFill>
                <a:latin typeface="Consolas"/>
              </a:rPr>
              <a:t>             find ABC123 → slot 1</a:t>
            </a:r>
            <a:br>
              <a:rPr lang="en-US" sz="900" dirty="0">
                <a:solidFill>
                  <a:srgbClr val="000000"/>
                </a:solidFill>
                <a:latin typeface="Consolas"/>
              </a:rPr>
            </a:br>
            <a:br>
              <a:rPr lang="en-US" sz="900" dirty="0">
                <a:latin typeface="Consolas"/>
              </a:rPr>
            </a:br>
            <a:r>
              <a:rPr lang="en-US" sz="900" dirty="0">
                <a:solidFill>
                  <a:srgbClr val="000000"/>
                </a:solidFill>
                <a:latin typeface="Consolas"/>
              </a:rPr>
              <a:t>             leave 1 → Slot 1 freed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>
                <a:solidFill>
                  <a:srgbClr val="000000"/>
                </a:solidFill>
                <a:latin typeface="Consolas"/>
              </a:rPr>
              <a:t>             leave 1 → already free</a:t>
            </a:r>
            <a:r>
              <a:rPr lang="en-US" sz="900" dirty="0"/>
              <a:t>  </a:t>
            </a:r>
            <a:r>
              <a:rPr lang="en-US" dirty="0"/>
              <a:t>    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702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E1139-C8EC-2FA9-ED93-469AF2260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Thank You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FBE4B-0726-3887-A003-6F49BB986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GitHub Repo: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  <a:hlinkClick r:id="rId2"/>
              </a:rPr>
              <a:t>https://github.com/SahanaHemraj/Vechile-parking-system</a:t>
            </a:r>
            <a:br>
              <a:rPr lang="en-US" i="1" dirty="0">
                <a:ea typeface="+mn-lt"/>
                <a:cs typeface="+mn-lt"/>
              </a:rPr>
            </a:br>
            <a:endParaRPr lang="en-US" dirty="0">
              <a:ea typeface="+mn-lt"/>
              <a:cs typeface="+mn-lt"/>
              <a:hlinkClick r:id="rId2"/>
            </a:endParaRPr>
          </a:p>
          <a:p>
            <a:r>
              <a:rPr lang="en-US" i="1" dirty="0">
                <a:ea typeface="+mn-lt"/>
                <a:cs typeface="+mn-lt"/>
              </a:rPr>
              <a:t>Email : sahanasahanah812@gmail.com</a:t>
            </a:r>
            <a:endParaRPr lang="en-US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651758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Ion Boardroom</vt:lpstr>
      <vt:lpstr>Parking Lot Management System</vt:lpstr>
      <vt:lpstr>Approach &amp; Design</vt:lpstr>
      <vt:lpstr>Flow Diagram</vt:lpstr>
      <vt:lpstr>Key Files and Folders</vt:lpstr>
      <vt:lpstr>Process to Run, Test, and Verify</vt:lpstr>
      <vt:lpstr>Test Data &amp; Seed Data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271</cp:revision>
  <dcterms:created xsi:type="dcterms:W3CDTF">2025-12-02T12:17:32Z</dcterms:created>
  <dcterms:modified xsi:type="dcterms:W3CDTF">2025-12-02T17:59:12Z</dcterms:modified>
</cp:coreProperties>
</file>